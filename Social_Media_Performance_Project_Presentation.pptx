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502920"/>
            <a:ext cx="914400" cy="914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52760" y="109728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0" y="15087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9601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SOCIAL MEDIA</a:t>
            </a:r>
            <a:br/>
            <a:r>
              <a:t>PERFORMANCE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BD5E1"/>
                </a:solidFill>
                <a:latin typeface="Aptos"/>
              </a:defRPr>
            </a:pPr>
            <a:r>
              <a:t>Data Cleaning • EDA • Engagement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120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ptos"/>
              </a:defRPr>
            </a:pPr>
            <a:r>
              <a:t>Python | Pandas | NumPy | Matplotlib | Seaborn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C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t>Understanding what drives reach, engagement and virality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492240" cy="42976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4233C"/>
                </a:solidFill>
                <a:latin typeface="Aptos"/>
              </a:defRPr>
            </a:pPr>
            <a:r>
              <a:t>• Analyze 10,000 social media posts across four platforms.</a:t>
            </a:r>
          </a:p>
          <a:p>
            <a:pPr>
              <a:spcAft>
                <a:spcPts val="1000"/>
              </a:spcAft>
              <a:defRPr sz="1800">
                <a:solidFill>
                  <a:srgbClr val="14233C"/>
                </a:solidFill>
                <a:latin typeface="Aptos"/>
              </a:defRPr>
            </a:pPr>
            <a:r>
              <a:t>• Explore content type, topic, sentiment, posting time and audience response.</a:t>
            </a:r>
          </a:p>
          <a:p>
            <a:pPr>
              <a:spcAft>
                <a:spcPts val="1000"/>
              </a:spcAft>
              <a:defRPr sz="1800">
                <a:solidFill>
                  <a:srgbClr val="14233C"/>
                </a:solidFill>
                <a:latin typeface="Aptos"/>
              </a:defRPr>
            </a:pPr>
            <a:r>
              <a:t>• Clean and validate the dataset before analysis.</a:t>
            </a:r>
          </a:p>
          <a:p>
            <a:pPr>
              <a:spcAft>
                <a:spcPts val="1000"/>
              </a:spcAft>
              <a:defRPr sz="1800">
                <a:solidFill>
                  <a:srgbClr val="14233C"/>
                </a:solidFill>
                <a:latin typeface="Aptos"/>
              </a:defRPr>
            </a:pPr>
            <a:r>
              <a:t>• Use univariate, bivariate and multivariate analysis to identify patterns.</a:t>
            </a:r>
          </a:p>
          <a:p>
            <a:pPr>
              <a:spcAft>
                <a:spcPts val="1000"/>
              </a:spcAft>
              <a:defRPr sz="1800">
                <a:solidFill>
                  <a:srgbClr val="14233C"/>
                </a:solidFill>
                <a:latin typeface="Aptos"/>
              </a:defRPr>
            </a:pPr>
            <a:r>
              <a:t>• Translate findings into practical content-strategy recommendations.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463040"/>
            <a:ext cx="3474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0" y="146304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73568" y="1609344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Aptos"/>
              </a:defRPr>
            </a:pPr>
            <a:r>
              <a:t>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8" y="1947672"/>
            <a:ext cx="31546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33C"/>
                </a:solidFill>
                <a:latin typeface="Aptos Display"/>
              </a:defRPr>
            </a:pPr>
            <a:r>
              <a:t>10,000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2167128"/>
            <a:ext cx="31546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ptos"/>
              </a:defRPr>
            </a:pPr>
            <a:r>
              <a:t>posts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2788920"/>
            <a:ext cx="3474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0" y="2788920"/>
            <a:ext cx="73152" cy="1143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73568" y="2935224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Aptos"/>
              </a:defRPr>
            </a:pPr>
            <a:r>
              <a:t>Platforms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3273552"/>
            <a:ext cx="31546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33C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3493008"/>
            <a:ext cx="31546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ptos"/>
              </a:defRPr>
            </a:pPr>
            <a:r>
              <a:t>LinkedIn, Instagram, Medium, YouTube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4114800"/>
            <a:ext cx="3474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4114800"/>
            <a:ext cx="73152" cy="1143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4261104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Aptos"/>
              </a:defRPr>
            </a:pPr>
            <a:r>
              <a:t>Variables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8" y="4599432"/>
            <a:ext cx="31546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33C"/>
                </a:solidFill>
                <a:latin typeface="Aptos Display"/>
              </a:defRPr>
            </a:pPr>
            <a: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8" y="4818888"/>
            <a:ext cx="31546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ptos"/>
              </a:defRPr>
            </a:pPr>
            <a:r>
              <a:t>original columns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75569"/>
                </a:solidFill>
                <a:latin typeface="Aptos"/>
              </a:defRPr>
            </a:pPr>
            <a:r>
              <a:t>Social Media Performance Analytics   •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C"/>
                </a:solidFill>
                <a:latin typeface="Aptos Display"/>
              </a:defRPr>
            </a:pPr>
            <a:r>
              <a:t>Dataset &amp;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t>Initial inspection and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2468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380744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Aptos"/>
              </a:defRPr>
            </a:pPr>
            <a:r>
              <a:t>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719072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33C"/>
                </a:solidFill>
                <a:latin typeface="Aptos Display"/>
              </a:defRPr>
            </a:pPr>
            <a:r>
              <a:t>10,000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38528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ptos"/>
              </a:defRPr>
            </a:pPr>
            <a:r>
              <a:t>complete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234440"/>
            <a:ext cx="2468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234440"/>
            <a:ext cx="73152" cy="1143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380744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Aptos"/>
              </a:defRPr>
            </a:pPr>
            <a:r>
              <a:t>Columns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1719072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33C"/>
                </a:solidFill>
                <a:latin typeface="Aptos Display"/>
              </a:defRPr>
            </a:pPr>
            <a: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1938528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ptos"/>
              </a:defRPr>
            </a:pPr>
            <a:r>
              <a:t>before feature engineering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234440"/>
            <a:ext cx="2468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234440"/>
            <a:ext cx="73152" cy="1143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1380744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Aptos"/>
              </a:defRPr>
            </a:pPr>
            <a:r>
              <a:t>Missing values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1719072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33C"/>
                </a:solidFill>
                <a:latin typeface="Aptos Display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1938528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ptos"/>
              </a:defRPr>
            </a:pPr>
            <a:r>
              <a:t>across all columns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1234440"/>
            <a:ext cx="2468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23960" y="1234440"/>
            <a:ext cx="73152" cy="1143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25128" y="1380744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Aptos"/>
              </a:defRPr>
            </a:pPr>
            <a:r>
              <a:t>Duplicates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5128" y="1719072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33C"/>
                </a:solidFill>
                <a:latin typeface="Aptos Display"/>
              </a:defRPr>
            </a:pPr>
            <a: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5128" y="1938528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ptos"/>
              </a:defRPr>
            </a:pPr>
            <a:r>
              <a:t>full rows / post IDs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2788920"/>
            <a:ext cx="5486400" cy="2743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4233C"/>
                </a:solidFill>
                <a:latin typeface="Aptos"/>
              </a:defRPr>
            </a:pPr>
            <a:r>
              <a:t>• post_datetime was converted from object to datetime64[ns].</a:t>
            </a:r>
          </a:p>
          <a:p>
            <a:pPr>
              <a:spcAft>
                <a:spcPts val="1000"/>
              </a:spcAft>
              <a:defRPr sz="1600">
                <a:solidFill>
                  <a:srgbClr val="14233C"/>
                </a:solidFill>
                <a:latin typeface="Aptos"/>
              </a:defRPr>
            </a:pPr>
            <a:r>
              <a:t>• Numeric performance fields were checked for negative values; none were found.</a:t>
            </a:r>
          </a:p>
          <a:p>
            <a:pPr>
              <a:spcAft>
                <a:spcPts val="1000"/>
              </a:spcAft>
              <a:defRPr sz="1600">
                <a:solidFill>
                  <a:srgbClr val="14233C"/>
                </a:solidFill>
                <a:latin typeface="Aptos"/>
              </a:defRPr>
            </a:pPr>
            <a:r>
              <a:t>• sentiment_score stayed within the valid range of -1 to +1.</a:t>
            </a:r>
          </a:p>
          <a:p>
            <a:pPr>
              <a:spcAft>
                <a:spcPts val="1000"/>
              </a:spcAft>
              <a:defRPr sz="1600">
                <a:solidFill>
                  <a:srgbClr val="14233C"/>
                </a:solidFill>
                <a:latin typeface="Aptos"/>
              </a:defRPr>
            </a:pPr>
            <a:r>
              <a:t>• is_viral contains only binary values: 0 and 1.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29400" y="2971800"/>
            <a:ext cx="4572000" cy="10058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3081528"/>
            <a:ext cx="4206240" cy="7863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233C"/>
                </a:solidFill>
                <a:latin typeface="Aptos"/>
              </a:defRPr>
            </a:pPr>
            <a:r>
              <a:t>Result: the dataset was structurally clean and ready for EDA.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75569"/>
                </a:solidFill>
                <a:latin typeface="Aptos"/>
              </a:defRPr>
            </a:pPr>
            <a:r>
              <a:t>Social Media Performance Analytics   •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C"/>
                </a:solidFill>
                <a:latin typeface="Aptos Display"/>
              </a:defRPr>
            </a:pPr>
            <a:r>
              <a:t>Data Preparation &amp;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6766560" cy="4754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4233C"/>
                </a:solidFill>
                <a:latin typeface="Aptos"/>
              </a:defRPr>
            </a:pPr>
            <a:r>
              <a:t>• Converted post_datetime to a proper datetime format.</a:t>
            </a:r>
          </a:p>
          <a:p>
            <a:pPr>
              <a:spcAft>
                <a:spcPts val="1000"/>
              </a:spcAft>
              <a:defRPr sz="1600">
                <a:solidFill>
                  <a:srgbClr val="14233C"/>
                </a:solidFill>
                <a:latin typeface="Aptos"/>
              </a:defRPr>
            </a:pPr>
            <a:r>
              <a:t>• Created post_year, post_month and post_month_name.</a:t>
            </a:r>
          </a:p>
          <a:p>
            <a:pPr>
              <a:spcAft>
                <a:spcPts val="1000"/>
              </a:spcAft>
              <a:defRPr sz="1600">
                <a:solidFill>
                  <a:srgbClr val="14233C"/>
                </a:solidFill>
                <a:latin typeface="Aptos"/>
              </a:defRPr>
            </a:pPr>
            <a:r>
              <a:t>• Created post_day, day_of_week and post_hour for time-based analysis.</a:t>
            </a:r>
          </a:p>
          <a:p>
            <a:pPr>
              <a:spcAft>
                <a:spcPts val="1000"/>
              </a:spcAft>
              <a:defRPr sz="1600">
                <a:solidFill>
                  <a:srgbClr val="14233C"/>
                </a:solidFill>
                <a:latin typeface="Aptos"/>
              </a:defRPr>
            </a:pPr>
            <a:r>
              <a:t>• Created day_type to separate Weekday vs Weekend posts.</a:t>
            </a:r>
          </a:p>
          <a:p>
            <a:pPr>
              <a:spcAft>
                <a:spcPts val="1000"/>
              </a:spcAft>
              <a:defRPr sz="1600">
                <a:solidFill>
                  <a:srgbClr val="14233C"/>
                </a:solidFill>
                <a:latin typeface="Aptos"/>
              </a:defRPr>
            </a:pPr>
            <a:r>
              <a:t>• Converted sentiment_score into Negative, Neutral and Positive categories.</a:t>
            </a:r>
          </a:p>
          <a:p>
            <a:pPr>
              <a:spcAft>
                <a:spcPts val="1000"/>
              </a:spcAft>
              <a:defRPr sz="1600">
                <a:solidFill>
                  <a:srgbClr val="14233C"/>
                </a:solidFill>
                <a:latin typeface="Aptos"/>
              </a:defRPr>
            </a:pPr>
            <a:r>
              <a:t>• Created hashtag_count by counting hashtags in each post.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1325880"/>
            <a:ext cx="3383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55279" y="1325880"/>
            <a:ext cx="73152" cy="1143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6448" y="147218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Aptos"/>
              </a:defRPr>
            </a:pPr>
            <a:r>
              <a:t>Average hashtags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6448" y="1810512"/>
            <a:ext cx="3063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33C"/>
                </a:solidFill>
                <a:latin typeface="Aptos Display"/>
              </a:defRPr>
            </a:pPr>
            <a:r>
              <a:t>5.12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6448" y="2029968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ptos"/>
              </a:defRPr>
            </a:pPr>
            <a:r>
              <a:t>per post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2697480"/>
            <a:ext cx="3383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79" y="269748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6448" y="284378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Aptos"/>
              </a:defRPr>
            </a:pPr>
            <a:r>
              <a:t>Hashtag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3182112"/>
            <a:ext cx="3063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33C"/>
                </a:solidFill>
                <a:latin typeface="Aptos Display"/>
              </a:defRPr>
            </a:pPr>
            <a:r>
              <a:t>3–7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3401568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ptos"/>
              </a:defRPr>
            </a:pPr>
            <a:r>
              <a:t>hashtags per post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4069080"/>
            <a:ext cx="3383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4069080"/>
            <a:ext cx="73152" cy="1143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421538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Aptos"/>
              </a:defRPr>
            </a:pPr>
            <a:r>
              <a:t>Sentiment range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4553712"/>
            <a:ext cx="3063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33C"/>
                </a:solidFill>
                <a:latin typeface="Aptos Display"/>
              </a:defRPr>
            </a:pPr>
            <a:r>
              <a:t>-1 to +1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4773168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ptos"/>
              </a:defRPr>
            </a:pPr>
            <a:r>
              <a:t>validated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75569"/>
                </a:solidFill>
                <a:latin typeface="Aptos"/>
              </a:defRPr>
            </a:pPr>
            <a:r>
              <a:t>Social Media Performance Analytics   •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C"/>
                </a:solidFill>
                <a:latin typeface="Aptos Display"/>
              </a:defRPr>
            </a:pPr>
            <a:r>
              <a:t>Univariate Analysis: Platform &amp; Content Mix</a:t>
            </a:r>
          </a:p>
        </p:txBody>
      </p:sp>
      <p:pic>
        <p:nvPicPr>
          <p:cNvPr id="4" name="Picture 3" descr="cell_4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303520" cy="3383280"/>
          </a:xfrm>
          <a:prstGeom prst="rect">
            <a:avLst/>
          </a:prstGeom>
        </p:spPr>
      </p:pic>
      <p:pic>
        <p:nvPicPr>
          <p:cNvPr id="5" name="Picture 4" descr="cell_4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303520" cy="3383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" y="4892040"/>
            <a:ext cx="5120640" cy="6858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001768"/>
            <a:ext cx="4754879" cy="4663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233C"/>
                </a:solidFill>
                <a:latin typeface="Aptos"/>
              </a:defRPr>
            </a:pPr>
            <a:r>
              <a:t>Each platform contributes exactly 2,500 posts.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4892040"/>
            <a:ext cx="5120640" cy="6858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5001768"/>
            <a:ext cx="4754879" cy="4663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233C"/>
                </a:solidFill>
                <a:latin typeface="Aptos"/>
              </a:defRPr>
            </a:pPr>
            <a:r>
              <a:t>Video is the most common content type (3,007 posts).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75569"/>
                </a:solidFill>
                <a:latin typeface="Aptos"/>
              </a:defRPr>
            </a:pPr>
            <a:r>
              <a:t>Social Media Performance Analytics   •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C"/>
                </a:solidFill>
                <a:latin typeface="Aptos Display"/>
              </a:defRPr>
            </a:pPr>
            <a:r>
              <a:t>Univariate Analysis: Reach &amp; Engagement</a:t>
            </a:r>
          </a:p>
        </p:txBody>
      </p:sp>
      <p:pic>
        <p:nvPicPr>
          <p:cNvPr id="4" name="Picture 3" descr="cell_4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303520" cy="3383280"/>
          </a:xfrm>
          <a:prstGeom prst="rect">
            <a:avLst/>
          </a:prstGeom>
        </p:spPr>
      </p:pic>
      <p:pic>
        <p:nvPicPr>
          <p:cNvPr id="5" name="Picture 4" descr="cell_44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303520" cy="3383280"/>
          </a:xfrm>
          <a:prstGeom prst="rect">
            <a:avLst/>
          </a:prstGeom>
        </p:spPr>
      </p:pic>
      <p:pic>
        <p:nvPicPr>
          <p:cNvPr id="6" name="Picture 5" descr="cell_45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4343400"/>
            <a:ext cx="5303520" cy="1828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4892040"/>
            <a:ext cx="5120640" cy="6858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001768"/>
            <a:ext cx="4754879" cy="4663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233C"/>
                </a:solidFill>
                <a:latin typeface="Aptos"/>
              </a:defRPr>
            </a:pPr>
            <a:r>
              <a:t>Average engagement rate = 11.27%; distribution is right-skewed.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4892040"/>
            <a:ext cx="5120640" cy="6858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5001768"/>
            <a:ext cx="4754879" cy="4663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233C"/>
                </a:solidFill>
                <a:latin typeface="Aptos"/>
              </a:defRPr>
            </a:pPr>
            <a:r>
              <a:t>High-engagement observations create visible upper-tail outliers.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75569"/>
                </a:solidFill>
                <a:latin typeface="Aptos"/>
              </a:defRPr>
            </a:pPr>
            <a:r>
              <a:t>Social Media Performance Analytics   •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C"/>
                </a:solidFill>
                <a:latin typeface="Aptos Display"/>
              </a:defRPr>
            </a:pPr>
            <a:r>
              <a:t>Bivariate Analysis: Platform &amp; Content Performance</a:t>
            </a:r>
          </a:p>
        </p:txBody>
      </p:sp>
      <p:pic>
        <p:nvPicPr>
          <p:cNvPr id="4" name="Picture 3" descr="cell_47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5303520" cy="3383280"/>
          </a:xfrm>
          <a:prstGeom prst="rect">
            <a:avLst/>
          </a:prstGeom>
        </p:spPr>
      </p:pic>
      <p:pic>
        <p:nvPicPr>
          <p:cNvPr id="5" name="Picture 4" descr="cell_49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43000"/>
            <a:ext cx="5303520" cy="3383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4754880"/>
            <a:ext cx="10332720" cy="12801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4233C"/>
                </a:solidFill>
                <a:latin typeface="Aptos"/>
              </a:defRPr>
            </a:pPr>
            <a:r>
              <a:t>• Instagram has the highest average engagement rate: 15.04%.</a:t>
            </a:r>
          </a:p>
          <a:p>
            <a:pPr>
              <a:spcAft>
                <a:spcPts val="1000"/>
              </a:spcAft>
              <a:defRPr sz="1400">
                <a:solidFill>
                  <a:srgbClr val="14233C"/>
                </a:solidFill>
                <a:latin typeface="Aptos"/>
              </a:defRPr>
            </a:pPr>
            <a:r>
              <a:t>• Medium follows at 13.16%, while YouTube is 8.98% and LinkedIn is 7.89%.</a:t>
            </a:r>
          </a:p>
          <a:p>
            <a:pPr>
              <a:spcAft>
                <a:spcPts val="1000"/>
              </a:spcAft>
              <a:defRPr sz="1400">
                <a:solidFill>
                  <a:srgbClr val="14233C"/>
                </a:solidFill>
                <a:latin typeface="Aptos"/>
              </a:defRPr>
            </a:pPr>
            <a:r>
              <a:t>• Feed content performs best at 15.21%, followed by reels at 14.53%.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75569"/>
                </a:solidFill>
                <a:latin typeface="Aptos"/>
              </a:defRPr>
            </a:pPr>
            <a:r>
              <a:t>Social Media Performance Analytics   •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C"/>
                </a:solidFill>
                <a:latin typeface="Aptos Display"/>
              </a:defRPr>
            </a:pPr>
            <a:r>
              <a:t>Bivariate Analysis: Views, Likes &amp; Shares</a:t>
            </a:r>
          </a:p>
        </p:txBody>
      </p:sp>
      <p:pic>
        <p:nvPicPr>
          <p:cNvPr id="4" name="Picture 3" descr="cell_5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349240" cy="3520440"/>
          </a:xfrm>
          <a:prstGeom prst="rect">
            <a:avLst/>
          </a:prstGeom>
        </p:spPr>
      </p:pic>
      <p:pic>
        <p:nvPicPr>
          <p:cNvPr id="5" name="Picture 4" descr="cell_5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43000"/>
            <a:ext cx="5349240" cy="3520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" y="4800600"/>
            <a:ext cx="5120640" cy="7315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910328"/>
            <a:ext cx="4754879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233C"/>
                </a:solidFill>
                <a:latin typeface="Aptos"/>
              </a:defRPr>
            </a:pPr>
            <a:r>
              <a:t>Views and likes show a strong positive relationship (r ≈ 0.78).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4800600"/>
            <a:ext cx="5120640" cy="7315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4910328"/>
            <a:ext cx="4754879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233C"/>
                </a:solidFill>
                <a:latin typeface="Aptos"/>
              </a:defRPr>
            </a:pPr>
            <a:r>
              <a:t>Views and shares also rise strongly with reach (r ≈ 0.78).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75569"/>
                </a:solidFill>
                <a:latin typeface="Aptos"/>
              </a:defRPr>
            </a:pPr>
            <a:r>
              <a:t>Social Media Performance Analytics   •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C"/>
                </a:solidFill>
                <a:latin typeface="Aptos Display"/>
              </a:defRPr>
            </a:pPr>
            <a:r>
              <a:t>Sentiment &amp; Time-Based Analysis</a:t>
            </a:r>
          </a:p>
        </p:txBody>
      </p:sp>
      <p:pic>
        <p:nvPicPr>
          <p:cNvPr id="4" name="Picture 3" descr="cell_5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5349240" cy="3337560"/>
          </a:xfrm>
          <a:prstGeom prst="rect">
            <a:avLst/>
          </a:prstGeom>
        </p:spPr>
      </p:pic>
      <p:pic>
        <p:nvPicPr>
          <p:cNvPr id="5" name="Picture 4" descr="cell_5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349240" cy="3337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" y="4800600"/>
            <a:ext cx="5120640" cy="7315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910328"/>
            <a:ext cx="4754879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233C"/>
                </a:solidFill>
                <a:latin typeface="Aptos"/>
              </a:defRPr>
            </a:pPr>
            <a:r>
              <a:t>Positive posts average 12.01% engagement vs 8.10% for negative posts.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4800600"/>
            <a:ext cx="5120640" cy="7315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4910328"/>
            <a:ext cx="4754879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233C"/>
                </a:solidFill>
                <a:latin typeface="Aptos"/>
              </a:defRPr>
            </a:pPr>
            <a:r>
              <a:t>Post volume peaks in April and August (872 posts each).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75569"/>
                </a:solidFill>
                <a:latin typeface="Aptos"/>
              </a:defRPr>
            </a:pPr>
            <a:r>
              <a:t>Social Media Performance Analytics   •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C"/>
                </a:solidFill>
                <a:latin typeface="Aptos Display"/>
              </a:defRPr>
            </a:pPr>
            <a:r>
              <a:t>Timing Analysis: Day &amp; Hour</a:t>
            </a:r>
          </a:p>
        </p:txBody>
      </p:sp>
      <p:pic>
        <p:nvPicPr>
          <p:cNvPr id="4" name="Picture 3" descr="cell_58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97280"/>
            <a:ext cx="5303520" cy="3383280"/>
          </a:xfrm>
          <a:prstGeom prst="rect">
            <a:avLst/>
          </a:prstGeom>
        </p:spPr>
      </p:pic>
      <p:pic>
        <p:nvPicPr>
          <p:cNvPr id="5" name="Picture 4" descr="cell_60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97280"/>
            <a:ext cx="5303520" cy="3383280"/>
          </a:xfrm>
          <a:prstGeom prst="rect">
            <a:avLst/>
          </a:prstGeom>
        </p:spPr>
      </p:pic>
      <p:pic>
        <p:nvPicPr>
          <p:cNvPr id="6" name="Picture 5" descr="cell_62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4160520"/>
            <a:ext cx="5303520" cy="18745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4892040"/>
            <a:ext cx="5120640" cy="6858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001768"/>
            <a:ext cx="4754879" cy="4663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233C"/>
                </a:solidFill>
                <a:latin typeface="Aptos"/>
              </a:defRPr>
            </a:pPr>
            <a:r>
              <a:t>Weekend engagement is only slightly higher than weekday engagement.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4892040"/>
            <a:ext cx="5120640" cy="6858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5001768"/>
            <a:ext cx="4754879" cy="4663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233C"/>
                </a:solidFill>
                <a:latin typeface="Aptos"/>
              </a:defRPr>
            </a:pPr>
            <a:r>
              <a:t>Posting hour matters more selectively, with a visible evening peak.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75569"/>
                </a:solidFill>
                <a:latin typeface="Aptos"/>
              </a:defRPr>
            </a:pPr>
            <a:r>
              <a:t>Social Media Performance Analytics   •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C"/>
                </a:solidFill>
                <a:latin typeface="Aptos Display"/>
              </a:defRPr>
            </a:pPr>
            <a:r>
              <a:t>Multivariate Analysis: Platform × Content &amp; Virality</a:t>
            </a:r>
          </a:p>
        </p:txBody>
      </p:sp>
      <p:pic>
        <p:nvPicPr>
          <p:cNvPr id="4" name="Picture 3" descr="cell_6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5577840" cy="3703320"/>
          </a:xfrm>
          <a:prstGeom prst="rect">
            <a:avLst/>
          </a:prstGeom>
        </p:spPr>
      </p:pic>
      <p:pic>
        <p:nvPicPr>
          <p:cNvPr id="5" name="Picture 4" descr="cell_66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960120"/>
            <a:ext cx="5486400" cy="3703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4572000"/>
            <a:ext cx="10789920" cy="1371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4233C"/>
                </a:solidFill>
                <a:latin typeface="Aptos"/>
              </a:defRPr>
            </a:pPr>
            <a:r>
              <a:t>• Instagram combines strong performance across several content formats.</a:t>
            </a:r>
          </a:p>
          <a:p>
            <a:pPr>
              <a:spcAft>
                <a:spcPts val="1000"/>
              </a:spcAft>
              <a:defRPr sz="1300">
                <a:solidFill>
                  <a:srgbClr val="14233C"/>
                </a:solidFill>
                <a:latin typeface="Aptos"/>
              </a:defRPr>
            </a:pPr>
            <a:r>
              <a:t>• Viral posts are especially common on Instagram: 1,682 viral vs 818 non-viral.</a:t>
            </a:r>
          </a:p>
          <a:p>
            <a:pPr>
              <a:spcAft>
                <a:spcPts val="1000"/>
              </a:spcAft>
              <a:defRPr sz="1300">
                <a:solidFill>
                  <a:srgbClr val="14233C"/>
                </a:solidFill>
                <a:latin typeface="Aptos"/>
              </a:defRPr>
            </a:pPr>
            <a:r>
              <a:t>• Medium also has more viral than non-viral posts (1,392 vs 1,108).</a:t>
            </a:r>
          </a:p>
          <a:p>
            <a:pPr>
              <a:spcAft>
                <a:spcPts val="1000"/>
              </a:spcAft>
              <a:defRPr sz="1300">
                <a:solidFill>
                  <a:srgbClr val="14233C"/>
                </a:solidFill>
                <a:latin typeface="Aptos"/>
              </a:defRPr>
            </a:pPr>
            <a:r>
              <a:t>• LinkedIn is the only platform here with more non-viral than viral posts.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75569"/>
                </a:solidFill>
                <a:latin typeface="Aptos"/>
              </a:defRPr>
            </a:pPr>
            <a:r>
              <a:t>Social Media Performance Analytics   •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C"/>
                </a:solidFill>
                <a:latin typeface="Aptos Display"/>
              </a:defRPr>
            </a:pPr>
            <a:r>
              <a:t>Correlation Analysis</a:t>
            </a:r>
          </a:p>
        </p:txBody>
      </p:sp>
      <p:pic>
        <p:nvPicPr>
          <p:cNvPr id="4" name="Picture 3" descr="cell_68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1143000"/>
            <a:ext cx="6400800" cy="523234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006840" y="1325880"/>
            <a:ext cx="2286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006840" y="1325880"/>
            <a:ext cx="731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8008" y="1472184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Aptos"/>
              </a:defRPr>
            </a:pPr>
            <a:r>
              <a:t>Views ↔ Likes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08008" y="1810512"/>
            <a:ext cx="1965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33C"/>
                </a:solidFill>
                <a:latin typeface="Aptos Display"/>
              </a:defRPr>
            </a:pPr>
            <a:r>
              <a:t>0.78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08008" y="1938527"/>
            <a:ext cx="1965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ptos"/>
              </a:defRPr>
            </a:pPr>
            <a:r>
              <a:t>strong positive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6840" y="2606040"/>
            <a:ext cx="2286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006840" y="2606040"/>
            <a:ext cx="73152" cy="1051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08008" y="2752344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Aptos"/>
              </a:defRPr>
            </a:pPr>
            <a:r>
              <a:t>Engagement ↔ Likes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08008" y="3090672"/>
            <a:ext cx="1965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33C"/>
                </a:solidFill>
                <a:latin typeface="Aptos Display"/>
              </a:defRPr>
            </a:pPr>
            <a:r>
              <a:t>0.43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8008" y="3218688"/>
            <a:ext cx="1965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ptos"/>
              </a:defRPr>
            </a:pPr>
            <a:r>
              <a:t>moderate positive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3886200"/>
            <a:ext cx="2286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06840" y="3886200"/>
            <a:ext cx="73152" cy="1051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8008" y="4032504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Aptos"/>
              </a:defRPr>
            </a:pPr>
            <a:r>
              <a:t>Engagement ↔ Sentiment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8008" y="4370832"/>
            <a:ext cx="1965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33C"/>
                </a:solidFill>
                <a:latin typeface="Aptos Display"/>
              </a:defRPr>
            </a:pPr>
            <a:r>
              <a:t>0.21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8008" y="4498848"/>
            <a:ext cx="1965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ptos"/>
              </a:defRPr>
            </a:pPr>
            <a:r>
              <a:t>weak positive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31720" y="5257800"/>
            <a:ext cx="6400800" cy="6858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5367528"/>
            <a:ext cx="6035040" cy="4663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233C"/>
                </a:solidFill>
                <a:latin typeface="Aptos"/>
              </a:defRPr>
            </a:pPr>
            <a:r>
              <a:t>Reach strongly translates into likes, comments and shares; sentiment has a smaller effect.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75569"/>
                </a:solidFill>
                <a:latin typeface="Aptos"/>
              </a:defRPr>
            </a:pPr>
            <a:r>
              <a:t>Social Media Performance Analytics   •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C"/>
                </a:solidFill>
                <a:latin typeface="Aptos Display"/>
              </a:defRPr>
            </a:pPr>
            <a:r>
              <a:t>Key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" y="1490472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81912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399032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33C"/>
                </a:solidFill>
              </a:defRPr>
            </a:pPr>
            <a:r>
              <a:t>Instagram leads engagement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801368"/>
            <a:ext cx="40690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15.04% average engagement rate.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23444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19672" y="1490472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1581912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399032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33C"/>
                </a:solidFill>
              </a:defRPr>
            </a:pPr>
            <a:r>
              <a:t>Feed &amp; reel formats are strongest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801368"/>
            <a:ext cx="40690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15.21% and 14.53% average engagement.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3464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3090672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182112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2999232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33C"/>
                </a:solidFill>
              </a:defRPr>
            </a:pPr>
            <a:r>
              <a:t>Positive sentiment performs better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401568"/>
            <a:ext cx="40690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12.01% vs 8.10% for negative posts.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83464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19672" y="3090672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3182112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999232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33C"/>
                </a:solidFill>
              </a:defRPr>
            </a:pPr>
            <a:r>
              <a:t>Virality is platform-dependent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401568"/>
            <a:ext cx="40690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Instagram records 1,682 viral posts.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43484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6112" y="4690872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782312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4599431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33C"/>
                </a:solidFill>
              </a:defRPr>
            </a:pPr>
            <a:r>
              <a:t>Reach and reactions move together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5001768"/>
            <a:ext cx="40690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Views correlate ~0.78 with likes/shares.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443484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519672" y="4690872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9672" y="4782312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4599431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33C"/>
                </a:solidFill>
              </a:defRPr>
            </a:pPr>
            <a:r>
              <a:t>Posting volume is seasonal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5001768"/>
            <a:ext cx="40690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April and August each have 872 posts.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75569"/>
                </a:solidFill>
                <a:latin typeface="Aptos"/>
              </a:defRPr>
            </a:pPr>
            <a:r>
              <a:t>Social Media Performance Analytics   •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C"/>
                </a:solidFill>
                <a:latin typeface="Aptos Display"/>
              </a:defRPr>
            </a:pPr>
            <a: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424160" cy="44805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4233C"/>
                </a:solidFill>
                <a:latin typeface="Aptos"/>
              </a:defRPr>
            </a:pPr>
            <a:r>
              <a:t>• Prioritize Instagram when the objective is higher engagement and virality.</a:t>
            </a:r>
          </a:p>
          <a:p>
            <a:pPr>
              <a:spcAft>
                <a:spcPts val="1000"/>
              </a:spcAft>
              <a:defRPr sz="1600">
                <a:solidFill>
                  <a:srgbClr val="14233C"/>
                </a:solidFill>
                <a:latin typeface="Aptos"/>
              </a:defRPr>
            </a:pPr>
            <a:r>
              <a:t>• Test feed and reel formats more aggressively than lower-performing formats.</a:t>
            </a:r>
          </a:p>
          <a:p>
            <a:pPr>
              <a:spcAft>
                <a:spcPts val="1000"/>
              </a:spcAft>
              <a:defRPr sz="1600">
                <a:solidFill>
                  <a:srgbClr val="14233C"/>
                </a:solidFill>
                <a:latin typeface="Aptos"/>
              </a:defRPr>
            </a:pPr>
            <a:r>
              <a:t>• Use positive, audience-friendly messaging where it fits the brand.</a:t>
            </a:r>
          </a:p>
          <a:p>
            <a:pPr>
              <a:spcAft>
                <a:spcPts val="1000"/>
              </a:spcAft>
              <a:defRPr sz="1600">
                <a:solidFill>
                  <a:srgbClr val="14233C"/>
                </a:solidFill>
                <a:latin typeface="Aptos"/>
              </a:defRPr>
            </a:pPr>
            <a:r>
              <a:t>• Use reach as an early performance signal because it is strongly associated with reactions.</a:t>
            </a:r>
          </a:p>
          <a:p>
            <a:pPr>
              <a:spcAft>
                <a:spcPts val="1000"/>
              </a:spcAft>
              <a:defRPr sz="1600">
                <a:solidFill>
                  <a:srgbClr val="14233C"/>
                </a:solidFill>
                <a:latin typeface="Aptos"/>
              </a:defRPr>
            </a:pPr>
            <a:r>
              <a:t>• Plan content calendars around high-volume periods such as April and August.</a:t>
            </a:r>
          </a:p>
          <a:p>
            <a:pPr>
              <a:spcAft>
                <a:spcPts val="1000"/>
              </a:spcAft>
              <a:defRPr sz="1600">
                <a:solidFill>
                  <a:srgbClr val="14233C"/>
                </a:solidFill>
                <a:latin typeface="Aptos"/>
              </a:defRPr>
            </a:pPr>
            <a:r>
              <a:t>• Test evening publishing windows and compare performance by platform rather than using one universal posting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54480" y="5532120"/>
            <a:ext cx="9052560" cy="6400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5641848"/>
            <a:ext cx="8686800" cy="42062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4233C"/>
                </a:solidFill>
                <a:latin typeface="Aptos"/>
              </a:defRPr>
            </a:pPr>
            <a:r>
              <a:t>Next step: turn these findings into a platform-specific content strategy and A/B testing plan.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75569"/>
                </a:solidFill>
                <a:latin typeface="Aptos"/>
              </a:defRPr>
            </a:pPr>
            <a:r>
              <a:t>Social Media Performance Analytics   •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BD5E1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21208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ptos"/>
              </a:defRPr>
            </a:pPr>
            <a:r>
              <a:t>Social Media Performance Analytics — Python EDA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